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093a8be2d645a9" /><Relationship Type="http://schemas.openxmlformats.org/officeDocument/2006/relationships/extended-properties" Target="/docProps/app.xml" Id="R0aaaf3c294ec4fd2" /><Relationship Type="http://schemas.openxmlformats.org/officeDocument/2006/relationships/officeDocument" Target="/ppt/presentation.xml" Id="R210638d3046947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81f884639d4212"/>
  </p:sldMasterIdLst>
  <p:notesMasterIdLst>
    <p:notesMasterId xmlns:r="http://schemas.openxmlformats.org/officeDocument/2006/relationships" r:id="R33f3606442d1402e"/>
  </p:notesMasterIdLst>
  <p:sldIdLst>
    <p:sldId xmlns:r="http://schemas.openxmlformats.org/officeDocument/2006/relationships" id="256" r:id="R1b5b444731964892"/>
    <p:sldId xmlns:r="http://schemas.openxmlformats.org/officeDocument/2006/relationships" id="257" r:id="R2be6b3c87d0d4767"/>
    <p:sldId xmlns:r="http://schemas.openxmlformats.org/officeDocument/2006/relationships" id="258" r:id="R99fcb1db58ce4714"/>
    <p:sldId xmlns:r="http://schemas.openxmlformats.org/officeDocument/2006/relationships" id="259" r:id="Rf11d423e886f439f"/>
    <p:sldId xmlns:r="http://schemas.openxmlformats.org/officeDocument/2006/relationships" id="260" r:id="Ra56fe389ad4b4e99"/>
    <p:sldId xmlns:r="http://schemas.openxmlformats.org/officeDocument/2006/relationships" id="261" r:id="Rec0fe8f947f9466d"/>
    <p:sldId xmlns:r="http://schemas.openxmlformats.org/officeDocument/2006/relationships" id="262" r:id="R41d9e03418e34169"/>
    <p:sldId xmlns:r="http://schemas.openxmlformats.org/officeDocument/2006/relationships" id="263" r:id="R49e797e9371f42aa"/>
    <p:sldId xmlns:r="http://schemas.openxmlformats.org/officeDocument/2006/relationships" id="264" r:id="R4f0e8ada80284501"/>
    <p:sldId xmlns:r="http://schemas.openxmlformats.org/officeDocument/2006/relationships" id="265" r:id="Rfbd5bcd5f77a4165"/>
    <p:sldId xmlns:r="http://schemas.openxmlformats.org/officeDocument/2006/relationships" id="266" r:id="R832f052eb98c4ed3"/>
    <p:sldId xmlns:r="http://schemas.openxmlformats.org/officeDocument/2006/relationships" id="267" r:id="Re40a3c8490c542c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628f7dc03b4f6e" /><Relationship Type="http://schemas.openxmlformats.org/officeDocument/2006/relationships/slideMaster" Target="/ppt/slideMasters/slideMaster1.xml" Id="R4f81f884639d4212" /><Relationship Type="http://schemas.openxmlformats.org/officeDocument/2006/relationships/notesMaster" Target="/ppt/notesMasters/notesMaster1.xml" Id="R33f3606442d1402e" /><Relationship Type="http://schemas.openxmlformats.org/officeDocument/2006/relationships/presProps" Target="/ppt/presProps.xml" Id="R9ed1ae7e935f4bbf" /><Relationship Type="http://schemas.openxmlformats.org/officeDocument/2006/relationships/tableStyles" Target="/ppt/tableStyles.xml" Id="R457e511dc4f74cb3" /><Relationship Type="http://schemas.openxmlformats.org/officeDocument/2006/relationships/slide" Target="/ppt/slides/slide1.xml" Id="R1b5b444731964892" /><Relationship Type="http://schemas.openxmlformats.org/officeDocument/2006/relationships/slide" Target="/ppt/slides/slide2.xml" Id="R2be6b3c87d0d4767" /><Relationship Type="http://schemas.openxmlformats.org/officeDocument/2006/relationships/slide" Target="/ppt/slides/slide3.xml" Id="R99fcb1db58ce4714" /><Relationship Type="http://schemas.openxmlformats.org/officeDocument/2006/relationships/slide" Target="/ppt/slides/slide4.xml" Id="Rf11d423e886f439f" /><Relationship Type="http://schemas.openxmlformats.org/officeDocument/2006/relationships/slide" Target="/ppt/slides/slide5.xml" Id="Ra56fe389ad4b4e99" /><Relationship Type="http://schemas.openxmlformats.org/officeDocument/2006/relationships/slide" Target="/ppt/slides/slide6.xml" Id="Rec0fe8f947f9466d" /><Relationship Type="http://schemas.openxmlformats.org/officeDocument/2006/relationships/slide" Target="/ppt/slides/slide7.xml" Id="R41d9e03418e34169" /><Relationship Type="http://schemas.openxmlformats.org/officeDocument/2006/relationships/slide" Target="/ppt/slides/slide8.xml" Id="R49e797e9371f42aa" /><Relationship Type="http://schemas.openxmlformats.org/officeDocument/2006/relationships/slide" Target="/ppt/slides/slide9.xml" Id="R4f0e8ada80284501" /><Relationship Type="http://schemas.openxmlformats.org/officeDocument/2006/relationships/slide" Target="/ppt/slides/slide10.xml" Id="Rfbd5bcd5f77a4165" /><Relationship Type="http://schemas.openxmlformats.org/officeDocument/2006/relationships/slide" Target="/ppt/slides/slide11.xml" Id="R832f052eb98c4ed3" /><Relationship Type="http://schemas.openxmlformats.org/officeDocument/2006/relationships/slide" Target="/ppt/slides/slide12.xml" Id="Re40a3c8490c542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3f340d399941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614bac746e456b" /><Relationship Type="http://schemas.openxmlformats.org/officeDocument/2006/relationships/notesMaster" Target="/ppt/notesMasters/notesMaster1.xml" Id="R686a71c75ee742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2436a522d4477f" /><Relationship Type="http://schemas.openxmlformats.org/officeDocument/2006/relationships/notesMaster" Target="/ppt/notesMasters/notesMaster1.xml" Id="R6f6cbe0045864f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4facfbfcd54956" /><Relationship Type="http://schemas.openxmlformats.org/officeDocument/2006/relationships/notesMaster" Target="/ppt/notesMasters/notesMaster1.xml" Id="R94d1befe6d0e4a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a26b6eac0e4fb7" /><Relationship Type="http://schemas.openxmlformats.org/officeDocument/2006/relationships/notesMaster" Target="/ppt/notesMasters/notesMaster1.xml" Id="Ra6a51a66a6fe4a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ddb6d0ad2b4f4b" /><Relationship Type="http://schemas.openxmlformats.org/officeDocument/2006/relationships/notesMaster" Target="/ppt/notesMasters/notesMaster1.xml" Id="Rb156634093dd45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5b3c7b758a49e8" /><Relationship Type="http://schemas.openxmlformats.org/officeDocument/2006/relationships/notesMaster" Target="/ppt/notesMasters/notesMaster1.xml" Id="Rc81d666d00e749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bd763cfc6c45a6" /><Relationship Type="http://schemas.openxmlformats.org/officeDocument/2006/relationships/notesMaster" Target="/ppt/notesMasters/notesMaster1.xml" Id="R4d476b7062bd47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12f5ac498c419b" /><Relationship Type="http://schemas.openxmlformats.org/officeDocument/2006/relationships/notesMaster" Target="/ppt/notesMasters/notesMaster1.xml" Id="R59bd29a8cdf04e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40201d3f734f3d" /><Relationship Type="http://schemas.openxmlformats.org/officeDocument/2006/relationships/notesMaster" Target="/ppt/notesMasters/notesMaster1.xml" Id="Rae19bfeea42845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d57912c1014c18" /><Relationship Type="http://schemas.openxmlformats.org/officeDocument/2006/relationships/notesMaster" Target="/ppt/notesMasters/notesMaster1.xml" Id="R81d6baa7377043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9bbaab3fe94754" /><Relationship Type="http://schemas.openxmlformats.org/officeDocument/2006/relationships/notesMaster" Target="/ppt/notesMasters/notesMaster1.xml" Id="Re8aaa2da2d7848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336a7211984cdb" /><Relationship Type="http://schemas.openxmlformats.org/officeDocument/2006/relationships/notesMaster" Target="/ppt/notesMasters/notesMaster1.xml" Id="R05b6773d09944b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წარადგინეთ პროექტის სახელი და მოკლედ ახსენით, რომ მიზანია SOC ანალიტიკოსის დახმარება ალერტების კლასიფიკაციაში, პრიორიტეტიზაციასა და ახსნადობაში. ხაზი გაუსვით, რომ სისტემა არის საბაკალავრო პროტოტიპი და human-in-the-loop მიდგომას იყენებს.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განმარტეთ alert fatigue-ის პრობლემა: მოცულობა, განმეორებადი შემოწმება და პრიორიტეტიზაციის სირთულე. AI არ ცვლის ანალიტიკოსს, მაგრამ შეუძლია საწყისი ფილტრაციისა და კონტექსტის მიწოდება.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ჩამოაყალიბეთ პროექტის მიზანი როგორც გადაწყვეტილების მხარდაჭერის სისტემა. აღნიშნეთ, რომ output მოიცავს prediction-ს, რისკს, mapping-სა და საწყის რეაგირების რეკომენდაციებს.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გაატარეთ აუდიტორია pipeline-ის მიხედვით input-იდან dashboard-მდე. ახსენით, რომ საბოლოო გადაწყვეტილება ანალიტიკოსთან რჩება.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მოკლედ აღწერეთ თითოეული ტექნოლოგიის ფუნქცია: მონაცემები, მოდელი, გრაფიკები, model persistence და UI. აღნიშნეთ, რომ stack შერჩეულია პროტოტიპის სიმარტივისა და reproducibility-ისთვის.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ახსენით data_loader.py და train_model.py. ჩამოთვალეთ მიმდინარე feature-ები: duration, src_bytes, dst_bytes, packet_count, error_count. მიუთითეთ, რომ model და feature order ინახება models/ საქაღალდეში.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განმარტეთ ფორმულა და threshold-ები. აღნიშნეთ, რომ წონები სასწავლოა და რეალურ SOC-ში ისტორიული ინციდენტებითა და analyst feedback-ით უნდა დაკალიბრდეს.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აჩვენეთ, როგორ ემატება model prediction-ს ოპერაციული კონტექსტი. მკაფიოდ თქვით, რომ ეს არ არის სრული threat intelligence ან production detection engine.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განასხვავეთ global და local explanation. მიმდინარე პროტოტიპი აღწერს მოდელის საერთო ქცევას; კონკრეტული ალერტის ზუსტი ახსნისთვის საჭიროა SHAP ან LIME.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აჩვენეთ რეალური reports ფაილებიდან მიღებული შედეგები. განსაკუთრებით ახსენით Recall და False Negative. მაღალი accuracy არ წარმოადგინოთ production proof-ად, რადგან dataset მცირეა.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გადადით live demo-ზე. ჯერ გაუშვით ერთი საეჭვო ალერტი, შემდეგ sample CSV. აჩვენეთ risk score, mapping, multiple alert table და reports.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დაასრულეთ რეალისტური შეზღუდვებით. მთავარი დასკვნაა, რომ პროექტი აჩვენებს AI-ის, Risk Score-ის, MITRE ATT&amp;CK-ისა და explainability-ის ერთიან გამოყენებას SOC triage-ის მხარდასაჭერად, თუმცა production დანერგვას დამატებითი მონაცემები, ტესტირება და უსაფრთხოების კონტროლები სჭირდება.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3d10ee4c1146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b009cd2c034022" /><Relationship Type="http://schemas.openxmlformats.org/officeDocument/2006/relationships/slideLayout" Target="/ppt/slideLayouts/slideLayout1.xml" Id="Rb4f5a1739cb046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f5a1739cb046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a667990ae408c" /><Relationship Type="http://schemas.openxmlformats.org/officeDocument/2006/relationships/notesSlide" Target="/ppt/notesSlides/notesSlide1.xml" Id="R9ceafa8ee5174b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2828731974f99" /><Relationship Type="http://schemas.openxmlformats.org/officeDocument/2006/relationships/notesSlide" Target="/ppt/notesSlides/notesSlide2.xml" Id="Rff3cbea32c2641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c14a496494960" /><Relationship Type="http://schemas.openxmlformats.org/officeDocument/2006/relationships/notesSlide" Target="/ppt/notesSlides/notesSlide3.xml" Id="R91abe6bc6e934a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8599f6c944736" /><Relationship Type="http://schemas.openxmlformats.org/officeDocument/2006/relationships/notesSlide" Target="/ppt/notesSlides/notesSlide4.xml" Id="R2552bc5628454c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e886cc14d494c" /><Relationship Type="http://schemas.openxmlformats.org/officeDocument/2006/relationships/notesSlide" Target="/ppt/notesSlides/notesSlide5.xml" Id="R6dba910603e64f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d371a60774344" /><Relationship Type="http://schemas.openxmlformats.org/officeDocument/2006/relationships/notesSlide" Target="/ppt/notesSlides/notesSlide6.xml" Id="Rfed02b5abd944f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16b4a389040cc" /><Relationship Type="http://schemas.openxmlformats.org/officeDocument/2006/relationships/notesSlide" Target="/ppt/notesSlides/notesSlide7.xml" Id="R59e92d278e3a4b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db4f1ac5c434e" /><Relationship Type="http://schemas.openxmlformats.org/officeDocument/2006/relationships/notesSlide" Target="/ppt/notesSlides/notesSlide8.xml" Id="Re7ede53a068a41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44e5fa4214ebd" /><Relationship Type="http://schemas.openxmlformats.org/officeDocument/2006/relationships/image" Target="/ppt/media/image.png" Id="R552fb36d0b5b4629" /><Relationship Type="http://schemas.openxmlformats.org/officeDocument/2006/relationships/notesSlide" Target="/ppt/notesSlides/notesSlide9.xml" Id="R0d38c5a6621d4b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bdf5a182847b1" /><Relationship Type="http://schemas.openxmlformats.org/officeDocument/2006/relationships/image" Target="/ppt/media/image2.png" Id="Ra8dd8c7c37e84804" /><Relationship Type="http://schemas.openxmlformats.org/officeDocument/2006/relationships/notesSlide" Target="/ppt/notesSlides/notesSlide10.xml" Id="R163854140c3745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844ae21124c8f" /><Relationship Type="http://schemas.openxmlformats.org/officeDocument/2006/relationships/notesSlide" Target="/ppt/notesSlides/notesSlide11.xml" Id="Rb3be6c1fc6f449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ab30083b042cf" /><Relationship Type="http://schemas.openxmlformats.org/officeDocument/2006/relationships/notesSlide" Target="/ppt/notesSlides/notesSlide12.xml" Id="Rad1b06ddf27048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3A76C1-C8E0-40B4-A3A8-E722FF58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676900"/>
          </a:xfrm>
          <a:prstGeom xmlns:a="http://schemas.openxmlformats.org/drawingml/2006/main" prst="roundRect">
            <a:avLst>
              <a:gd name="adj" fmla="val 2013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70100-2C4A-4E60-A85A-A39232A3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AI-SOC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29338-9A75-4BA6-B4CE-9380F472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Alert 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27F6E-6238-4463-A8E8-CBEA3BDD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622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მანქანური სწავლება SOC ალერტების triage-ის მხარდასაჭერად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2428F-BC98-4399-9C6A-A8AEB71C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123950"/>
            <a:ext cx="23431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2F81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ACD4C-BA04-4EBF-A8A7-9E8A1D48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SOC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ACED8-F475-490B-B991-C5233122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479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ML  •  RISK  •  MITRE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48A84-384C-4D1B-BC5E-5288BF77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952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1262D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8AE5E-9F44-48F0-A8DF-EB68EDEF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62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საბაკალავრო ნაშრომი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39870-872D-4BD8-B6EB-EA3AEF98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დავით მულიანი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B8264-53AF-4539-AB96-826E981A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Python  |  Scikit-learn  |  Streamlit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BDCFE-E7CF-426B-85A1-6AB7B8DD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AI-SOC Alert Assistant | Bachelor Thesis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470A9-D1B7-4AF9-835E-ADB7FE1A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380999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EF6477-8621-46ED-A191-156B861E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30C65-DA2B-4F60-BC82-3C0E48E8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პრობლემა: SOC Alert Fatigue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EBE1C-30C3-4443-8034-E3DC733E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D"/>
          </a:solidFill>
          <a:ln xmlns:a="http://schemas.openxmlformats.org/drawingml/2006/main" w="0">
            <a:solidFill>
              <a:srgbClr val="3036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B9490-43CB-4816-9D30-0E3933AE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AI-SOC Alert Assistant | Bachelor Thesis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E0241-37D5-44A6-9CF8-2DF6A52B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D2671-EF5F-4FD7-9E55-3E722BF3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3718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EEE87-35B7-4011-A789-50B7F0C8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A7F20-04C5-47DB-8BE4-F8664576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დიდი მოცულობა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B91AD-A541-4F35-8BC3-77F20010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SOC სისტემები ყოველდღიურად ქმნის მრავალ ალერტს.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B57D2-B899-45C1-9449-73B1659F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90700"/>
            <a:ext cx="33718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AF4E3-E1B7-4BFE-AAAE-C6F08C76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574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2992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2992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D55CA-1B19-410B-9F4D-81B985EA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False Positives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2B51A-87CA-44CE-8797-445BF78F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დაბალი ღირებულების სიგნალები ზრდის analyst workload-ს.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E19CB-9906-4641-8BD6-73E99712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90700"/>
            <a:ext cx="33718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A7391A-4DF2-46E1-8E95-0100F1AD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51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8514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235E7-04A3-4B98-B7C4-AA352DA6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დაგვიანებული რეაგირება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7B29E-DB85-4DBE-B776-A7B318C6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კრიტიკული ალერტის დაგვიანება ზრდის უსაფრთხოების რისკს.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4F43F-542C-498F-B1E2-0564CECF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706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1262D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A0D27-ED79-4962-9CDB-048D8E42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AI-ის როლი: triage-ის მხარდაჭერა და კონტექსტის მიწოდება — არა ანალიტიკოსის ჩანაცვლება.</a:t>
            </a:r>
          </a:p>
        </p:txBody>
      </p:sp>
    </p:spTree>
    <p:extLst>
      <p:ext uri="{BB962C8B-B14F-4D97-AF65-F5344CB8AC3E}">
        <p14:creationId xmlns:p14="http://schemas.microsoft.com/office/powerpoint/2010/main" val="6063875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727A37-47F7-4D38-A9BD-059A9AA0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1E275-1C19-4393-98FA-90680E10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პროექტის მიზანი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9E46C-FB82-400E-8E41-23DAFA75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D"/>
          </a:solidFill>
          <a:ln xmlns:a="http://schemas.openxmlformats.org/drawingml/2006/main" w="0">
            <a:solidFill>
              <a:srgbClr val="3036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8F8E3-558A-47EF-BFCF-C537F885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AI-SOC Alert Assistant | Bachelor Thesis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FC8FE-0B52-40C9-9124-45D36625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8C3CD-F6B0-43E5-B693-E0011198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6000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4" indent="-14">
              <a:spcAft>
                <a:spcPts val="10"/>
              </a:spcAft>
              <a:buChar char="•"/>
            </a:pPr>
            <a:r>
              <a:rPr sz="1725">
                <a:solidFill>
                  <a:srgbClr val="F0F6FC"/>
                </a:solidFill>
                <a:latin typeface="Arial"/>
                <a:ea typeface="Arial"/>
                <a:cs typeface="Arial"/>
              </a:rPr>
              <a:t>BENIGN / ATTACK კლასიფიკაციის დემონსტრირება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</a:pPr>
            <a:r>
              <a:rPr sz="1725">
                <a:solidFill>
                  <a:srgbClr val="F0F6FC"/>
                </a:solidFill>
                <a:latin typeface="Arial"/>
                <a:ea typeface="Arial"/>
                <a:cs typeface="Arial"/>
              </a:rPr>
              <a:t>Attack Probability და Risk Score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</a:pPr>
            <a:r>
              <a:rPr sz="1725">
                <a:solidFill>
                  <a:srgbClr val="F0F6FC"/>
                </a:solidFill>
                <a:latin typeface="Arial"/>
                <a:ea typeface="Arial"/>
                <a:cs typeface="Arial"/>
              </a:rPr>
              <a:t>MITRE ATT&amp;CK კონტექსტის დამატება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</a:pPr>
            <a:r>
              <a:rPr sz="1725">
                <a:solidFill>
                  <a:srgbClr val="F0F6FC"/>
                </a:solidFill>
                <a:latin typeface="Arial"/>
                <a:ea typeface="Arial"/>
                <a:cs typeface="Arial"/>
              </a:rPr>
              <a:t>Explainable AI / Feature Importance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</a:pPr>
            <a:r>
              <a:rPr sz="1725">
                <a:solidFill>
                  <a:srgbClr val="F0F6FC"/>
                </a:solidFill>
                <a:latin typeface="Arial"/>
                <a:ea typeface="Arial"/>
                <a:cs typeface="Arial"/>
              </a:rPr>
              <a:t>Manual Alert და CSV Batch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925E5-B2B1-4927-99E5-8694F918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00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0FD54-F7AE-4092-82CB-0811BE5C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95500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Decision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4F9A0-FAF8-4A2B-A9F0-61D33A7C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05100"/>
            <a:ext cx="31051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1262D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B1980-79D9-4ABE-8EE6-55528EB9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432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B5A5A0-C127-408C-BD4C-18FB2EB4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38500"/>
            <a:ext cx="31051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1262D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2964F-282E-40F7-9FE0-A5A83746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766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A5B4A-8521-44C9-B4C8-A2520DDD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71900"/>
            <a:ext cx="31051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1262D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3F0303-E158-4F7B-B60D-1C4784D8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100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7CECDE-0A79-4A62-A8F4-840AED5F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05300"/>
            <a:ext cx="31051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81F7"/>
          </a:solidFill>
          <a:ln xmlns:a="http://schemas.openxmlformats.org/drawingml/2006/main" w="9525">
            <a:solidFill>
              <a:srgbClr val="2F81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BCB97-BD8C-457F-98BA-9130F328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434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Contextualize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2C495-8F3B-41EA-B7B2-1D3F67D2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006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FB9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B950"/>
                </a:solidFill>
                <a:latin typeface="Arial"/>
                <a:ea typeface="Arial"/>
                <a:cs typeface="Arial"/>
              </a:rPr>
              <a:t>Human-in-the-loop</a:t>
            </a:r>
          </a:p>
        </p:txBody>
      </p:sp>
    </p:spTree>
    <p:extLst>
      <p:ext uri="{BB962C8B-B14F-4D97-AF65-F5344CB8AC3E}">
        <p14:creationId xmlns:p14="http://schemas.microsoft.com/office/powerpoint/2010/main" val="9676939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560E63-E487-4D23-9933-3BBA197C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AD14F-C2A3-4515-956B-E2A2B027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სისტემის არქიტექტურა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A0E23-4D31-44B8-9C28-1CE5EEB2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D"/>
          </a:solidFill>
          <a:ln xmlns:a="http://schemas.openxmlformats.org/drawingml/2006/main" w="0">
            <a:solidFill>
              <a:srgbClr val="3036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3CEE5-00A0-4DA2-975B-F4764714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AI-SOC Alert Assistant | Bachelor Thesis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DEAF8-2D64-45F4-9224-107B25C8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AD674-56A1-4BF8-8992-31776D10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43150"/>
            <a:ext cx="16002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2F81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A2D27-FD3A-49EB-9B84-F9008085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EBFC3-D38C-4C69-BBA6-B81F8CF4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CSV / Manual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53FBD-F183-4C5B-AAC4-AC8F3431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78130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584AB-30A0-4351-B54F-23D4A3DF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43150"/>
            <a:ext cx="16002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9C5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F985C-B315-49AC-8F2B-361BE4C0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527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9C5C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C5CF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F072E-3112-4516-AE5D-4BFDE00F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718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Preprocessing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EC155-99D8-4635-A14B-C79CBEFD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8130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D15D3-0A34-4F78-80EA-E05523FB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16002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FB9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D20CCB-9B32-4F48-AAAE-E3EBA5CB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527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FB95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FB950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B6AF6-2168-40A1-BECA-D27BADE1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718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ML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32A29-2787-46EF-A9A4-C2960D03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78130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A94BA-1971-42A7-85A5-7A957472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16002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D299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62EC4C-EBAF-4209-9EFE-8C24E166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527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2992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29922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62CEA1-5095-4B78-B9A2-D5EB2352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718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Risk 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ED9115-9CC0-43DA-9BFD-FC335FD1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8130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2341DB-34B3-407A-98B0-6BC47709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43150"/>
            <a:ext cx="16002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F8514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612204-4916-4EFD-B603-6727ED0B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527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51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85149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0BC7EF-4B31-4E79-8C87-2420CEE0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MITRE + XAI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944D0-F863-48BC-874C-6515B6B4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78130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38C6BF-0119-426E-B60A-B2320C06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43150"/>
            <a:ext cx="16002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2F81F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53FB8F-1182-4358-BC32-6B6D6C65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527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Deliver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D26094-4F41-450E-973D-2B167EE5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9718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FE4D06-9DE2-471D-B8D3-764702FF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10050"/>
            <a:ext cx="4648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1262D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CDD761-A2FE-4927-83CC-15014A7D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243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SOC Analyst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01E2C3-F4BC-4468-831F-EC7334E0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482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FB9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FB950"/>
                </a:solidFill>
                <a:latin typeface="Arial"/>
                <a:ea typeface="Arial"/>
                <a:cs typeface="Arial"/>
              </a:rPr>
              <a:t>საბოლოო გადაწყვეტილება რჩება ადამიანთან</a:t>
            </a:r>
          </a:p>
        </p:txBody>
      </p:sp>
    </p:spTree>
    <p:extLst>
      <p:ext uri="{BB962C8B-B14F-4D97-AF65-F5344CB8AC3E}">
        <p14:creationId xmlns:p14="http://schemas.microsoft.com/office/powerpoint/2010/main" val="20403885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12C232-610F-4E33-B6F7-E6DCEB44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A6D8C-3E3A-416F-8A0B-17759490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გამოყენებული ტექნოლოგიები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9E8B7-9554-4102-81C6-FAEE163E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D"/>
          </a:solidFill>
          <a:ln xmlns:a="http://schemas.openxmlformats.org/drawingml/2006/main" w="0">
            <a:solidFill>
              <a:srgbClr val="3036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1610F-1EE9-40F4-A111-660873EC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AI-SOC Alert Assistant | Bachelor Thesis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7851F-AC82-406D-8202-8F6D9660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5C840-0528-47E6-915E-86DAE44C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3528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39E82-D89A-425A-9361-4BEA89ED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25D38-F340-4ECA-AEA2-B90F75F6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ძირითადი ენა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CFBC7-B2B1-4E1B-84BA-9BA6DE44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90700"/>
            <a:ext cx="33528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D0CFD-D00A-4D40-85AC-4DCD2001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764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Pandas / NumPy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5F3A5-F5E9-46CF-B7FE-D38C6319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908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მონაცემთა დამუშავება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A7C8B-A989-4D59-A672-60B3A122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90700"/>
            <a:ext cx="33528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1A3EB-46C1-47F5-BBF7-2E722616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Scikit-learn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FE07EA-E05F-4BD0-93F1-F736B30E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908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ML და შეფასება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44ED1-64F7-461B-A6D2-9813B864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33528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B15C8A-E3F2-4C3D-A51D-EDBBEF80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Matplotlib / Altair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53EF00-1107-4E68-BE80-6996F4D7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ვიზუალიზაცია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A713F4-592C-483F-880E-BDB3DD6E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81400"/>
            <a:ext cx="33528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FC410A-E2BD-4105-AA52-0CCA63A0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671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Joblib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78854C-1F4C-4609-A6BA-2BB505B9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815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Model persistence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7418F2-E02D-4812-9E49-DC9FE077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81400"/>
            <a:ext cx="33528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EBA7AF-D7FA-44A5-A1AF-00F92525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671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Streamlit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5EF24A-7CFD-419B-BD32-98872A3C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815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8754820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E673ED-CBF6-4742-9A40-49E7FB62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D5BC0-F98C-45D1-B340-C6FDA815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ML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2BBE2-AFE0-4408-842A-7542D61C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D"/>
          </a:solidFill>
          <a:ln xmlns:a="http://schemas.openxmlformats.org/drawingml/2006/main" w="0">
            <a:solidFill>
              <a:srgbClr val="3036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22C92-EAD9-4A78-B9D7-5E2F8D66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AI-SOC Alert Assistant | Bachelor Thesis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B8A08-9589-4C99-B4D0-C73EB361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762DE-8B09-4F8B-8F5D-E94300E2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10439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39C8D-B606-400A-8460-7C616484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F81F7"/>
          </a:solidFill>
          <a:ln xmlns:a="http://schemas.openxmlformats.org/drawingml/2006/main" w="9525">
            <a:solidFill>
              <a:srgbClr val="2F81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589E9-23E6-4B2E-8DEA-FDF63E8C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288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11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111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B45DE-A1DD-46A3-B4F8-78738626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7907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Load 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A4D4B-A090-45B5-96B7-1D829A83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label + numeric features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20A78-B1FA-4157-BC36-26BD1834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10439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1040D-C39D-4B1D-B0EA-0AFCDC6D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F81F7"/>
          </a:solidFill>
          <a:ln xmlns:a="http://schemas.openxmlformats.org/drawingml/2006/main" w="9525">
            <a:solidFill>
              <a:srgbClr val="2F81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8AF56-BB80-4D96-A1C4-BA5BEBB9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11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111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D6624-F1AA-4A74-A2B6-0DE2CD35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289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Clean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5F66AE-A0C4-4625-879A-696E036F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479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inf / NaN / median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2E988-81DB-4DDE-A681-F10BC233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10439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2EA2A-39D4-4C80-A100-8E998801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F81F7"/>
          </a:solidFill>
          <a:ln xmlns:a="http://schemas.openxmlformats.org/drawingml/2006/main" w="9525">
            <a:solidFill>
              <a:srgbClr val="2F81F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9D85F7-F8CD-4CE5-99C0-F2C97DF8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11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111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231FA1-3C85-4607-AF3D-F60E8577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4671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D0FA63-609F-4AA8-88AA-A9D6C60C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86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stratified 75 / 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25926B-51DE-4F48-9118-996FE962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0439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1262D"/>
          </a:solidFill>
          <a:ln xmlns:a="http://schemas.openxmlformats.org/drawingml/2006/main" w="9525">
            <a:solidFill>
              <a:srgbClr val="3FB9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6D0236-6EA2-46B9-8AAC-D47EDD85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FB950"/>
          </a:solidFill>
          <a:ln xmlns:a="http://schemas.openxmlformats.org/drawingml/2006/main" w="9525">
            <a:solidFill>
              <a:srgbClr val="3FB9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195754-5C03-4D6C-B9C0-108CFE3A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11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111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7E2552-8D89-4882-9562-26D7075A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053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110114-262F-49B2-85DE-7B7E68B8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243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Random Forest ×100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336415-AD29-475C-9E17-29714720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0439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36C360-C0EB-4768-911E-963417B7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F81F7"/>
          </a:solidFill>
          <a:ln xmlns:a="http://schemas.openxmlformats.org/drawingml/2006/main" w="9525">
            <a:solidFill>
              <a:srgbClr val="2F81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D0AB66-BD54-40C0-AB9C-2A0621DF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11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111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A6918F-1CFA-48E6-8EF4-C455E3B3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143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Save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5C9D67-240C-4698-B2F4-2B64817F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625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model + feature order</a:t>
            </a:r>
          </a:p>
        </p:txBody>
      </p:sp>
    </p:spTree>
    <p:extLst>
      <p:ext uri="{BB962C8B-B14F-4D97-AF65-F5344CB8AC3E}">
        <p14:creationId xmlns:p14="http://schemas.microsoft.com/office/powerpoint/2010/main" val="5541260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204568-DB35-4ACC-BBF5-2C133616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8D8AE-6F28-45F0-935C-0A228821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Risk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B39B9-29D3-4355-B61A-02DC1D16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D"/>
          </a:solidFill>
          <a:ln xmlns:a="http://schemas.openxmlformats.org/drawingml/2006/main" w="0">
            <a:solidFill>
              <a:srgbClr val="3036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9C704-B147-4154-B4A6-9A647107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AI-SOC Alert Assistant | Bachelor Thesis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1DACF-B2F6-424E-811D-03778F98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71E52-E5A4-4ABB-8A13-4E882C24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2387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54874-7C0E-43A7-82EE-5EF3BF1E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Risk Score =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EC6CA-2B07-4E28-989E-77B4ABCE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(0.55P + 0.25S + 0.20A) × 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11CDC-2CF5-41D0-98A5-A27C8ACF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P = Attack Probability</a:t>
            </a:r>
          </a:p>
          <a:p xmlns:a="http://schemas.openxmlformats.org/drawingml/2006/main">
            <a:pPr algn="l">
              <a:defRPr sz="1500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S = Severity</a:t>
            </a:r>
          </a:p>
          <a:p xmlns:a="http://schemas.openxmlformats.org/drawingml/2006/main">
            <a:pPr algn="l">
              <a:defRPr sz="1500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A = Asset Criticality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BEE20-0282-4A62-BBE0-F264CE33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47850"/>
            <a:ext cx="476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FB9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FEF38-0819-4937-B083-A0487B57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81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B9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FB950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66D923-30C3-415F-9848-1CB8FD53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812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&lt; 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73F98-22F3-44FE-9C48-9CECCDFE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150"/>
            <a:ext cx="476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D299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37AA81-2107-42BB-9A11-9419084F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299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29922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3BAD95-0EB1-4119-A679-27CEDC0B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575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40–69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2A1357-4112-4561-9F92-7232AC41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00450"/>
            <a:ext cx="476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E3B3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FE554-EDC3-474F-8D2B-EFCD4C2A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3B34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3B341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38C0C-F61A-45D2-B7D2-4FDE0EAB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7338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70–84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88DED-FFB4-4648-9F08-36EE1C15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76750"/>
            <a:ext cx="476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F8514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DB2B77-7920-4AFF-B8B8-7EBA3D5E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514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5149"/>
                </a:solidFill>
                <a:latin typeface="Arial"/>
                <a:ea typeface="Arial"/>
                <a:cs typeface="Arial"/>
              </a:rPr>
              <a:t>Critical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2C4AF6-72FB-4D56-AEB4-879AF099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10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85+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F99A21-C537-4116-BD2A-57138D5C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864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მიზანი: ალერტების პრიორიტეტიზაცია</a:t>
            </a:r>
          </a:p>
        </p:txBody>
      </p:sp>
    </p:spTree>
    <p:extLst>
      <p:ext uri="{BB962C8B-B14F-4D97-AF65-F5344CB8AC3E}">
        <p14:creationId xmlns:p14="http://schemas.microsoft.com/office/powerpoint/2010/main" val="1001357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DB5AD8-D08D-42B9-895A-9D902F71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127D9-EE22-48EC-816F-BFB987A0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MITRE ATT&amp;CK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148F0-0A17-4530-9A8F-699AF912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D"/>
          </a:solidFill>
          <a:ln xmlns:a="http://schemas.openxmlformats.org/drawingml/2006/main" w="0">
            <a:solidFill>
              <a:srgbClr val="3036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1CCEF-1B6C-4B41-A807-ADB6FD0A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AI-SOC Alert Assistant | Bachelor Thesis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381BF-4532-440A-936B-04B2F7D1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0A51A-DCC3-4268-BE2D-5956B7AC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668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F851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99820-508A-4B70-BD00-68DD1B7E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51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5149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A3C93-AC7D-4E09-B0DF-B781DEE1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050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DoS / DDoS-like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F7902-DE3B-468D-AD38-5C29BC44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050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High packets + high source bytes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958A6-F175-4A0B-AF7D-E10500DD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668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D2992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9AC92-1827-4146-96E7-C198AB94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299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29922"/>
                </a:solidFill>
                <a:latin typeface="Arial"/>
                <a:ea typeface="Arial"/>
                <a:cs typeface="Arial"/>
              </a:rPr>
              <a:t>Credential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BD32C-ED4A-42C6-B9E8-94911C1D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57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Brute Force-like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FF43F-BD45-4D18-898C-38EB8654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575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High error 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B719B-D80C-4ED5-93CE-CDC75EA9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668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2F81F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8DB09A-D5A3-415A-8FA5-836B1C6C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Command &amp;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70584-063C-4A62-AFA9-D423F6CB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00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Persistent communication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9B193-C940-4B7F-9D88-498701D0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100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Long duration + packets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D22382-7DD0-458A-9539-54FA2B83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668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7FA89-CE5E-4656-823A-621E4A9B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Analyst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A230CD-4DAD-4AFD-97CF-0A0A3439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62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Unclassified behavior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37086D-D89C-4B46-88C9-85EE1262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625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No simple rule matched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990ECF-D84E-4B01-86BD-BFE184A6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299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29922"/>
                </a:solidFill>
                <a:latin typeface="Arial"/>
                <a:ea typeface="Arial"/>
                <a:cs typeface="Arial"/>
              </a:rPr>
              <a:t>Educational rules — not a complete threat intelligence engine</a:t>
            </a:r>
          </a:p>
        </p:txBody>
      </p:sp>
    </p:spTree>
    <p:extLst>
      <p:ext uri="{BB962C8B-B14F-4D97-AF65-F5344CB8AC3E}">
        <p14:creationId xmlns:p14="http://schemas.microsoft.com/office/powerpoint/2010/main" val="9617697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519C8C-5AE4-4FEC-B764-29FCCA54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C1B98-F526-45D8-8F75-48C9751F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Explainable AI / Feature Importance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0D0D1-0BEE-422D-8950-7636EF1E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D"/>
          </a:solidFill>
          <a:ln xmlns:a="http://schemas.openxmlformats.org/drawingml/2006/main" w="0">
            <a:solidFill>
              <a:srgbClr val="3036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0E26B-6973-4E33-98BF-EA199359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AI-SOC Alert Assistant | Bachelor Thesis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0D10D-20FF-4C65-8BF6-50063ACF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A5B0C-409B-4EF7-8EE7-F9352B6D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95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4" indent="-14">
              <a:spcAft>
                <a:spcPts val="10"/>
              </a:spcAft>
              <a:buChar char="•"/>
            </a:pPr>
            <a:r>
              <a:rPr sz="1575">
                <a:solidFill>
                  <a:srgbClr val="F0F6FC"/>
                </a:solidFill>
                <a:latin typeface="Arial"/>
                <a:ea typeface="Arial"/>
                <a:cs typeface="Arial"/>
              </a:rPr>
              <a:t>Random Forest-ის გლობალური Feature Importance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</a:pPr>
            <a:r>
              <a:rPr sz="1575">
                <a:solidFill>
                  <a:srgbClr val="F0F6FC"/>
                </a:solidFill>
                <a:latin typeface="Arial"/>
                <a:ea typeface="Arial"/>
                <a:cs typeface="Arial"/>
              </a:rPr>
              <a:t>Feature-ების გავლენის ranking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</a:pPr>
            <a:r>
              <a:rPr sz="1575">
                <a:solidFill>
                  <a:srgbClr val="F0F6FC"/>
                </a:solidFill>
                <a:latin typeface="Arial"/>
                <a:ea typeface="Arial"/>
                <a:cs typeface="Arial"/>
              </a:rPr>
              <a:t>მოდელის გამჭვირვალობის გაუმჯობესება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</a:pPr>
            <a:r>
              <a:rPr sz="1575">
                <a:solidFill>
                  <a:srgbClr val="F0F6FC"/>
                </a:solidFill>
                <a:latin typeface="Arial"/>
                <a:ea typeface="Arial"/>
                <a:cs typeface="Arial"/>
              </a:rPr>
              <a:t>მომავალი: SHAP / LIME local explanation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fb36d0b5b4629"/>
          <a:stretch xmlns:a="http://schemas.openxmlformats.org/drawingml/2006/main"/>
        </p:blipFill>
        <p:spPr>
          <a:xfrm xmlns:a="http://schemas.openxmlformats.org/drawingml/2006/main">
            <a:off x="6096000" y="1945481"/>
            <a:ext cx="5143500" cy="3214688"/>
          </a:xfrm>
          <a:prstGeom xmlns:a="http://schemas.openxmlformats.org/drawingml/2006/main" prst="roundRect">
            <a:avLst>
              <a:gd name="adj" fmla="val 211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40911-C173-4E6F-A82A-0DEE11A6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495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1262D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05219-CB9F-43D1-9444-F85DDE0A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299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29922"/>
                </a:solidFill>
                <a:latin typeface="Arial"/>
                <a:ea typeface="Arial"/>
                <a:cs typeface="Arial"/>
              </a:rPr>
              <a:t>Global explanation ≠ one-alert explanation</a:t>
            </a:r>
          </a:p>
        </p:txBody>
      </p:sp>
    </p:spTree>
    <p:extLst>
      <p:ext uri="{BB962C8B-B14F-4D97-AF65-F5344CB8AC3E}">
        <p14:creationId xmlns:p14="http://schemas.microsoft.com/office/powerpoint/2010/main" val="12622484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39A218-C972-417D-A9A8-50C2A66D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FCCD6-A718-4577-B8C5-D2CDCF5A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შეფასების შედეგები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A3C0B-CE90-4EEC-9A17-77549A5B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D"/>
          </a:solidFill>
          <a:ln xmlns:a="http://schemas.openxmlformats.org/drawingml/2006/main" w="0">
            <a:solidFill>
              <a:srgbClr val="3036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2B605-C64C-4C45-A36A-22D2CA2D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AI-SOC Alert Assistant | Bachelor Thesis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04D42-4F78-4713-B8A0-D2507A87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82897-16AB-4BA5-BD2F-087B00DD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200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6B96C-9B21-4104-AB29-C7DAD637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B4804-3BE9-4B64-8C34-4D59D22B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9BCE4-B9B9-4992-9282-D7D8D57C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752600"/>
            <a:ext cx="1200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ABF99-A17B-4F75-A3A5-7DBE5FA1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9240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F25E8-B50F-4749-87AD-BFAF52AC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247900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F25AE-8C0C-498E-BFB4-56A00468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52600"/>
            <a:ext cx="1200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FB9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9E772-9B1F-4986-81B0-6C616F8B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240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ADD2CA-A598-4E8E-998E-A05F81C3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47900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E3D4B5-614B-407A-B970-42BFFC85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52600"/>
            <a:ext cx="1200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DE036B-FC0B-4639-ACCE-6A9FC5CE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A8B9A5-9E7B-4885-8E9C-9ABEE828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d8c7c37e84804"/>
          <a:stretch xmlns:a="http://schemas.openxmlformats.org/drawingml/2006/main"/>
        </p:blipFill>
        <p:spPr>
          <a:xfrm xmlns:a="http://schemas.openxmlformats.org/drawingml/2006/main">
            <a:off x="6238875" y="169545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99BEED-40F2-4B5F-931C-45941ACE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238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21262D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6A9162-FBE0-4B6E-95AB-C3208F75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Model Comparison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002795-ABF0-478E-8B80-E6502939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0F6FC"/>
                </a:solidFill>
                <a:latin typeface="Arial"/>
                <a:ea typeface="Arial"/>
                <a:cs typeface="Arial"/>
              </a:rPr>
              <a:t>Logistic Regression • Decision Tree</a:t>
            </a:r>
          </a:p>
          <a:p xmlns:a="http://schemas.openxmlformats.org/drawingml/2006/main">
            <a:pPr algn="l">
              <a:defRPr sz="1275" b="0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0F6FC"/>
                </a:solidFill>
                <a:latin typeface="Arial"/>
                <a:ea typeface="Arial"/>
                <a:cs typeface="Arial"/>
              </a:rPr>
              <a:t>Random Forest • Gradient Boosting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B67519-DDE6-4EEA-8D37-29748981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238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21262D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E7CEFB-A918-4753-A647-C1895577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B95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FB950"/>
                </a:solidFill>
                <a:latin typeface="Arial"/>
                <a:ea typeface="Arial"/>
                <a:cs typeface="Arial"/>
              </a:rPr>
              <a:t>Cross-validation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E22085-EB95-43CE-9401-8B398991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0F6FC"/>
                </a:solidFill>
                <a:latin typeface="Arial"/>
                <a:ea typeface="Arial"/>
                <a:cs typeface="Arial"/>
              </a:rPr>
              <a:t>Stratified K-Fold: 5 folds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466C67-212A-4C1E-8086-D0156E4E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2992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29922"/>
                </a:solidFill>
                <a:latin typeface="Arial"/>
                <a:ea typeface="Arial"/>
                <a:cs typeface="Arial"/>
              </a:rPr>
              <a:t>შეზღუდვა: test support = 4; მაღალი შედეგი demonstration-ია.</a:t>
            </a:r>
          </a:p>
        </p:txBody>
      </p:sp>
    </p:spTree>
    <p:extLst>
      <p:ext uri="{BB962C8B-B14F-4D97-AF65-F5344CB8AC3E}">
        <p14:creationId xmlns:p14="http://schemas.microsoft.com/office/powerpoint/2010/main" val="9402364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5864BB-9140-4081-A765-BE0C7B7A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8703E-337E-49D6-B01C-CA7B05B1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Dashboard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38863-5C37-4D7F-98E1-55E10F4C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D"/>
          </a:solidFill>
          <a:ln xmlns:a="http://schemas.openxmlformats.org/drawingml/2006/main" w="0">
            <a:solidFill>
              <a:srgbClr val="3036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BBE32-F07C-4B47-8419-B148CBD8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AI-SOC Alert Assistant | Bachelor Thesis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9C0AD-932C-4988-8C0D-8D481487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69191-6315-4881-AA5A-AE142EE4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143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2F81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56CF9-0022-4349-B169-3E3D5546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607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[ჩასასმელია Dashboard Screenshot]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1AD04-DF31-41A7-9D93-A813AF14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95450"/>
            <a:ext cx="31623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1262D"/>
          </a:solidFill>
          <a:ln xmlns:a="http://schemas.openxmlformats.org/drawingml/2006/main" w="9525">
            <a:solidFill>
              <a:srgbClr val="2F81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18E21-026A-4525-9B11-9E8BFD1D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D6FBE-0388-4BC1-9573-32381734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288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Manual Alert Scan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D4F19-A1CF-4E9D-900F-0196DF4C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95550"/>
            <a:ext cx="31623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AFFA3-BFAE-4717-9ADD-7F73D98D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8BBEB-83A8-4CC1-9B96-1B3B832C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289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Risk Gauge + MITRE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5B362-9BCB-4C52-970B-07A5F5BD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95650"/>
            <a:ext cx="31623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6F0E47-8BD2-4098-B63B-F69756B0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48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2FFF4-178D-4BE3-84D3-3804129C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290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CSV Batch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98B21D-625B-4159-BC98-112AD1D4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31623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6E68B1-77FC-4C59-99FF-B3E6E458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E18A85-B721-48AF-A7AB-C5101619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291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Feature Importance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107126-93BA-4CC6-BAFC-58BEDF74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95850"/>
            <a:ext cx="31623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48FAF-0054-4295-9D3A-4428DB27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48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3F6688-50AE-43E4-A51C-FB79ECD5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292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Research Results</a:t>
            </a:r>
          </a:p>
        </p:txBody>
      </p:sp>
    </p:spTree>
    <p:extLst>
      <p:ext uri="{BB962C8B-B14F-4D97-AF65-F5344CB8AC3E}">
        <p14:creationId xmlns:p14="http://schemas.microsoft.com/office/powerpoint/2010/main" val="15481191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B6D6CC-38E5-4743-A775-6EA3ECB7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BAD6D-24D1-4AB2-BF74-3BED4173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0F6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0F6FC"/>
                </a:solidFill>
                <a:latin typeface="Arial"/>
                <a:ea typeface="Arial"/>
                <a:cs typeface="Arial"/>
              </a:rPr>
              <a:t>შეზღუდვები და მომავალი სამუშაო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2921B-2634-4490-86A1-D0BA8F80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D"/>
          </a:solidFill>
          <a:ln xmlns:a="http://schemas.openxmlformats.org/drawingml/2006/main" w="0">
            <a:solidFill>
              <a:srgbClr val="3036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E74E8-A7BA-4EBE-8A09-348D6781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B949E"/>
                </a:solidFill>
                <a:latin typeface="Arial"/>
                <a:ea typeface="Arial"/>
                <a:cs typeface="Arial"/>
              </a:rPr>
              <a:t>AI-SOC Alert Assistant | Bachelor Thesis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D36D9-FC23-4C0A-9E9F-8C8FA08C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49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6BA4F-3C4B-49C6-979B-0A6505CA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0482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81F35-E7F0-4747-A7B1-5876FD32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514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85149"/>
                </a:solidFill>
                <a:latin typeface="Arial"/>
                <a:ea typeface="Arial"/>
                <a:cs typeface="Arial"/>
              </a:rPr>
              <a:t>შეზღუდვები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B353F-5864-47C5-ADED-D6A25089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4381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4" indent="-14">
              <a:spcAft>
                <a:spcPts val="10"/>
              </a:spcAft>
              <a:buChar char="•"/>
            </a:pPr>
            <a:r>
              <a:rPr sz="1500">
                <a:solidFill>
                  <a:srgbClr val="F0F6FC"/>
                </a:solidFill>
                <a:latin typeface="Arial"/>
                <a:ea typeface="Arial"/>
                <a:cs typeface="Arial"/>
              </a:rPr>
              <a:t>მცირე და გამარტივებული dataset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</a:pPr>
            <a:r>
              <a:rPr sz="1500">
                <a:solidFill>
                  <a:srgbClr val="F0F6FC"/>
                </a:solidFill>
                <a:latin typeface="Arial"/>
                <a:ea typeface="Arial"/>
                <a:cs typeface="Arial"/>
              </a:rPr>
              <a:t>მაღალი accuracy არ არის production proof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</a:pPr>
            <a:r>
              <a:rPr sz="1500">
                <a:solidFill>
                  <a:srgbClr val="F0F6FC"/>
                </a:solidFill>
                <a:latin typeface="Arial"/>
                <a:ea typeface="Arial"/>
                <a:cs typeface="Arial"/>
              </a:rPr>
              <a:t>Rule-based MITRE mapping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</a:pPr>
            <a:r>
              <a:rPr sz="1500">
                <a:solidFill>
                  <a:srgbClr val="F0F6FC"/>
                </a:solidFill>
                <a:latin typeface="Arial"/>
                <a:ea typeface="Arial"/>
                <a:cs typeface="Arial"/>
              </a:rPr>
              <a:t>Global-only explainability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2CFB7-01AD-480F-B9B8-CDE6664C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0863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6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4778F-7BC7-4C91-9FE8-D9D5D0E0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FB95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FB950"/>
                </a:solidFill>
                <a:latin typeface="Arial"/>
                <a:ea typeface="Arial"/>
                <a:cs typeface="Arial"/>
              </a:rPr>
              <a:t>მომავალი სამუშაო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EC53F-A17D-4CBD-AD62-30528384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9850"/>
            <a:ext cx="44577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4" indent="-14">
              <a:spcAft>
                <a:spcPts val="10"/>
              </a:spcAft>
              <a:buChar char="•"/>
            </a:pPr>
            <a:r>
              <a:rPr sz="1500">
                <a:solidFill>
                  <a:srgbClr val="F0F6FC"/>
                </a:solidFill>
                <a:latin typeface="Arial"/>
                <a:ea typeface="Arial"/>
                <a:cs typeface="Arial"/>
              </a:rPr>
              <a:t>CIC-IDS2017 / UNSW-NB15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</a:pPr>
            <a:r>
              <a:rPr sz="1500">
                <a:solidFill>
                  <a:srgbClr val="F0F6FC"/>
                </a:solidFill>
                <a:latin typeface="Arial"/>
                <a:ea typeface="Arial"/>
                <a:cs typeface="Arial"/>
              </a:rPr>
              <a:t>SHAP / LIME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</a:pPr>
            <a:r>
              <a:rPr sz="1500">
                <a:solidFill>
                  <a:srgbClr val="F0F6FC"/>
                </a:solidFill>
                <a:latin typeface="Arial"/>
                <a:ea typeface="Arial"/>
                <a:cs typeface="Arial"/>
              </a:rPr>
              <a:t>FastAPI + SIEM integration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</a:pPr>
            <a:r>
              <a:rPr sz="1500">
                <a:solidFill>
                  <a:srgbClr val="F0F6FC"/>
                </a:solidFill>
                <a:latin typeface="Arial"/>
                <a:ea typeface="Arial"/>
                <a:cs typeface="Arial"/>
              </a:rPr>
              <a:t>Analyst feedback loop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</a:pPr>
            <a:r>
              <a:rPr sz="1500">
                <a:solidFill>
                  <a:srgbClr val="F0F6FC"/>
                </a:solidFill>
                <a:latin typeface="Arial"/>
                <a:ea typeface="Arial"/>
                <a:cs typeface="Arial"/>
              </a:rPr>
              <a:t>Improved MITRE mapping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FCAE3-7FE0-4F14-BC59-94BDB7AB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1F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1F7"/>
                </a:solidFill>
                <a:latin typeface="Arial"/>
                <a:ea typeface="Arial"/>
                <a:cs typeface="Arial"/>
              </a:rPr>
              <a:t>AI + Risk + Context + Explainability</a:t>
            </a:r>
          </a:p>
        </p:txBody>
      </p:sp>
    </p:spTree>
    <p:extLst>
      <p:ext uri="{BB962C8B-B14F-4D97-AF65-F5344CB8AC3E}">
        <p14:creationId xmlns:p14="http://schemas.microsoft.com/office/powerpoint/2010/main" val="1505422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2026-06-18T10:04:23.9690000Z</dcterms:created>
  <dcterms:modified xsi:type="dcterms:W3CDTF">2026-06-18T10:04:23.9690000Z</dcterms:modified>
</coreProperties>
</file>